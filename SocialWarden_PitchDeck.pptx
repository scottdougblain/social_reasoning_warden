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Social Reasoning 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2D3"/>
                </a:solidFill>
                <a:latin typeface="Calibri"/>
              </a:defRPr>
            </a:pPr>
            <a:r>
              <a:t>Agent-Based Oversight to Mitigate Adversarial Persuasion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Calibri"/>
              </a:defRPr>
            </a:pPr>
            <a:r>
              <a:t>Can LLM agents detect and counter social engineering in real time?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77"/>
                </a:solidFill>
                <a:latin typeface="Calibri"/>
              </a:defRPr>
            </a:pPr>
            <a:r>
              <a:t>Scott Blain*  ·  Lennart Wachowiak*   |   ERA Fellowship,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Calibri"/>
              </a:defRPr>
            </a:pPr>
            <a:r>
              <a:t>*equal contribution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LLMs acquiring social reasoning — theory of mind,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strategic communication, persuasive language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Same mechanisms enable manipulation,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social engineering, and preference shaping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A manipulative AI may outperform its human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Multi-agent evaluation framework (COAX-Bench)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“Warden” agent monitors conversation,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sends private advisories to the target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BFI-2–grounded vulnerability profiles</a:t>
            </a:r>
          </a:p>
          <a:p>
            <a:pPr algn="l">
              <a:lnSpc>
                <a:spcPts val="1800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•  N = 7,760 simulated + human study (in progress)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Three-agent architecture with factorial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2560320" cy="13716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Calibri"/>
              </a:defRPr>
            </a:pPr>
            <a:r>
              <a:t>Adversary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Hidden manipulation goal</a:t>
            </a:r>
          </a:p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+ optional behavioral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143000"/>
            <a:ext cx="2560320" cy="13716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1572768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Psychological profile</a:t>
            </a:r>
          </a:p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(BFI-2 + VIA grounded)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2560320" cy="13716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Calibri"/>
              </a:defRPr>
            </a:pPr>
            <a:r>
              <a:t>Warden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72768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Private security advisor</a:t>
            </a:r>
          </a:p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Observes + sends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1143000"/>
            <a:ext cx="2560320" cy="13716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Calibri"/>
              </a:defRPr>
            </a:pPr>
            <a:r>
              <a:t>Benign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1572768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Legitimate request</a:t>
            </a:r>
          </a:p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9999AA"/>
                </a:solidFill>
                <a:latin typeface="Calibri"/>
              </a:defRPr>
            </a:pPr>
            <a:r>
              <a:t>(control condition)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43200"/>
            <a:ext cx="5029200" cy="3749039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Calibri"/>
              </a:defRPr>
            </a:pPr>
            <a:r>
              <a:t>Three Sub-Studies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9184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50"/>
              </a:spcAft>
              <a:defRPr sz="1500" b="1">
                <a:solidFill>
                  <a:srgbClr val="FF9F43"/>
                </a:solidFill>
                <a:latin typeface="Calibri"/>
              </a:defRPr>
            </a:pPr>
            <a:r>
              <a:t>Study 1: Warden Effect &amp; Dossier  (N=2,274)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9999AA"/>
                </a:solidFill>
                <a:latin typeface="Calibri"/>
              </a:defRPr>
            </a:pPr>
            <a:r>
              <a:t>  2×2 factorial: warden × behavioral dossier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9999AA"/>
                </a:solidFill>
                <a:latin typeface="Calibri"/>
              </a:defRPr>
            </a:pPr>
          </a:p>
          <a:p>
            <a:pPr algn="l">
              <a:lnSpc>
                <a:spcPts val="1725"/>
              </a:lnSpc>
              <a:spcAft>
                <a:spcPts val="450"/>
              </a:spcAft>
              <a:defRPr sz="1500" b="1">
                <a:solidFill>
                  <a:srgbClr val="FF9F43"/>
                </a:solidFill>
                <a:latin typeface="Calibri"/>
              </a:defRPr>
            </a:pPr>
            <a:r>
              <a:t>Study 2: Capability Asymmetry  (N=1,215)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9999AA"/>
                </a:solidFill>
                <a:latin typeface="Calibri"/>
              </a:defRPr>
            </a:pPr>
            <a:r>
              <a:t>  4 warden tiers: none / weak / mid / strong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9999AA"/>
                </a:solidFill>
                <a:latin typeface="Calibri"/>
              </a:defRPr>
            </a:pPr>
          </a:p>
          <a:p>
            <a:pPr algn="l">
              <a:lnSpc>
                <a:spcPts val="1725"/>
              </a:lnSpc>
              <a:spcAft>
                <a:spcPts val="450"/>
              </a:spcAft>
              <a:defRPr sz="1500" b="1">
                <a:solidFill>
                  <a:srgbClr val="FF9F43"/>
                </a:solidFill>
                <a:latin typeface="Calibri"/>
              </a:defRPr>
            </a:pPr>
            <a:r>
              <a:t>Study 3: Skeptical Ablation  (N=3,080)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9999AA"/>
                </a:solidFill>
                <a:latin typeface="Calibri"/>
              </a:defRPr>
            </a:pPr>
            <a:r>
              <a:t>  3 defenses × 2 requester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43200"/>
            <a:ext cx="5029200" cy="3749039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Calibri"/>
              </a:defRPr>
            </a:pPr>
            <a:r>
              <a:t>Design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9184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11 scenarios spanning hiring, file access, medical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triage, AI deployment, financial decisions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4 vulnerability profiles (BFI-2 grounded):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Idealistic · Compliant · Authority Deferential · Time Pressured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4 model families × 3 capability tiers each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(Gemini Flash, Gemma, Llama, Mistral)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4-turn conversations, forced-choice decision</a:t>
            </a:r>
          </a:p>
          <a:p>
            <a:pPr algn="l">
              <a:lnSpc>
                <a:spcPts val="1725"/>
              </a:lnSpc>
              <a:spcAft>
                <a:spcPts val="45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GLMEs with random slopes for warden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Simulated multi-agent interactions  (N = 7,760)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warde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329184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38912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D2D3"/>
                </a:solidFill>
                <a:latin typeface="Calibri"/>
              </a:defRPr>
            </a:pPr>
            <a:r>
              <a:t>Warden cuts adversary success</a:t>
            </a:r>
          </a:p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by 95% (OR=0.053, p&lt;.001)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515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3_capability_asym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143000"/>
            <a:ext cx="3291840" cy="27062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97680" y="438912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D2D3"/>
                </a:solidFill>
                <a:latin typeface="Calibri"/>
              </a:defRPr>
            </a:pPr>
            <a:r>
              <a:t>Even a weak warden</a:t>
            </a:r>
          </a:p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cuts success by 62%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4_skeptical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43000"/>
            <a:ext cx="3291840" cy="255250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38160" y="4389120"/>
            <a:ext cx="3566160" cy="109728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D2D3"/>
                </a:solidFill>
                <a:latin typeface="Calibri"/>
              </a:defRPr>
            </a:pPr>
            <a:r>
              <a:t>Prompt skepticism: comparable</a:t>
            </a:r>
          </a:p>
          <a:p>
            <a:pPr algn="l">
              <a:lnSpc>
                <a:spcPts val="1680"/>
              </a:lnSpc>
              <a:spcAft>
                <a:spcPts val="420"/>
              </a:spcAft>
              <a:defRPr sz="1400" b="0">
                <a:solidFill>
                  <a:srgbClr val="9999AA"/>
                </a:solidFill>
                <a:latin typeface="Calibri"/>
              </a:defRPr>
            </a:pPr>
            <a:r>
              <a:t>suppression, 3× lower FP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6928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424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D3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7790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adversary success</a:t>
            </a:r>
          </a:p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undefended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79" y="566928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57424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D3"/>
                </a:solidFill>
                <a:latin typeface="Calibri"/>
              </a:defRPr>
            </a:pPr>
            <a:r>
              <a:t>~10%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9" y="57790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with warden</a:t>
            </a:r>
          </a:p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(95% reduction)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66928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57424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D3"/>
                </a:solidFill>
                <a:latin typeface="Calibri"/>
              </a:defRPr>
            </a:pPr>
            <a: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7790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reduction even with</a:t>
            </a:r>
          </a:p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weak warden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566928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599" y="57424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D3"/>
                </a:solidFill>
                <a:latin typeface="Calibri"/>
              </a:defRPr>
            </a:pPr>
            <a:r>
              <a:t>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79" y="57790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lower FP cost with</a:t>
            </a:r>
          </a:p>
          <a:p>
            <a:pPr algn="l">
              <a:lnSpc>
                <a:spcPts val="1320"/>
              </a:lnSpc>
              <a:spcAft>
                <a:spcPts val="359"/>
              </a:spcAft>
              <a:defRPr sz="1200" b="0">
                <a:solidFill>
                  <a:srgbClr val="9999AA"/>
                </a:solidFill>
                <a:latin typeface="Calibri"/>
              </a:defRPr>
            </a:pPr>
            <a:r>
              <a:t>prompt skepticism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 &amp; What’s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5029200" cy="539496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Adversarial LLMs succeed ~52% undefended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with 6× variation across scenarios (12–76%)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Warden reduces this to ~10%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robust across scenarios and model families (OR=0.053)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Behavioral dossiers don’t help adversaries (yet)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models can’t spontaneously leverage personal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Even weak wardens help significantly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target-capability warden still cuts success by 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Warden benefit greatest for vulnerable 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Idealistic 60%→12%, Compliant 53%→11%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Prompt skepticism is a competitive alternative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comparable suppression with 3× lower FP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00584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▶  Frontier model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874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Claude, GPT-4o, Gemini Pro — do stronger adversaries overcome the warden?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350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▶  Human–AI interaction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24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Prolific participants × 4 scenarios — does the warden help real users?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09981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▶  Transcript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7413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LLM-as-a-judge to classify persuasion tactics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9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▶  Release COAX-Bench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239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Open evaluation framework: scenarios, profiles, modular warden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663440"/>
            <a:ext cx="5029200" cy="1737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10_warden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709160"/>
            <a:ext cx="2720902" cy="1645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77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