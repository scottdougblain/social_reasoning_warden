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10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>
        <p:scale>
          <a:sx n="108" d="100"/>
          <a:sy n="108" d="100"/>
        </p:scale>
        <p:origin x="1280" y="4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Social Reasoning 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D2D3"/>
                </a:solidFill>
                <a:latin typeface="Calibri"/>
              </a:defRPr>
            </a:pPr>
            <a:r>
              <a:t>Agent-Based Oversight to Mitigate Adversarial Persuasion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AA"/>
                </a:solidFill>
                <a:latin typeface="Calibri"/>
              </a:defRPr>
            </a:pPr>
            <a:r>
              <a:t>Can LLM agents detect and counter social engineering in real time?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66677"/>
                </a:solidFill>
                <a:latin typeface="Calibri"/>
              </a:defRPr>
            </a:pPr>
            <a:r>
              <a:rPr dirty="0"/>
              <a:t>Scott Blain*  ·  Lennart Wachowiak* </a:t>
            </a:r>
            <a:r>
              <a:rPr lang="en-US" dirty="0"/>
              <a:t> ·  David Williams-King  ·  Samuele Marro    </a:t>
            </a:r>
            <a:r>
              <a:rPr dirty="0"/>
              <a:t>|  </a:t>
            </a:r>
            <a:r>
              <a:rPr lang="en-US" dirty="0"/>
              <a:t> </a:t>
            </a:r>
            <a:r>
              <a:rPr dirty="0"/>
              <a:t>ERA Fellowship, March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77"/>
                </a:solidFill>
                <a:latin typeface="Calibri"/>
              </a:defRPr>
            </a:pPr>
            <a:r>
              <a:t>*equal contribution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06240"/>
            <a:ext cx="5029200" cy="22860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D3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4572000" cy="1502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/>
              <a:t>LLMs</a:t>
            </a:r>
            <a:r>
              <a:rPr lang="en-US" dirty="0"/>
              <a:t> are</a:t>
            </a:r>
            <a:r>
              <a:rPr dirty="0"/>
              <a:t> acquiring social reasoning — theory of mind,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   strategic communication, persuasive language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• </a:t>
            </a:r>
            <a:r>
              <a:rPr lang="en-US" dirty="0"/>
              <a:t> Overlapping</a:t>
            </a:r>
            <a:r>
              <a:rPr dirty="0"/>
              <a:t> mechanisms enable manipulation,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   social engineering, and preference shaping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/>
              <a:t>A manipulative AI may outperform its human target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206240"/>
            <a:ext cx="5029200" cy="22860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D3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7548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t>•  Multi-agent evaluation framework (COAX-Bench)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t>•  “Warden” agent monitors conversation,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t>   sends private advisories to the target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t>•  BFI-2–grounded vulnerability profiles</a:t>
            </a:r>
          </a:p>
          <a:p>
            <a:pPr algn="l">
              <a:lnSpc>
                <a:spcPts val="1800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t>•  N = 7,760 simulated + human study (in progress)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77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AA"/>
                </a:solidFill>
                <a:latin typeface="Calibri"/>
              </a:defRPr>
            </a:pPr>
            <a:r>
              <a:t>Three-agent architecture with factorial conditions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2560320" cy="13716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234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D3"/>
                </a:solidFill>
                <a:latin typeface="Calibri"/>
              </a:defRPr>
            </a:pPr>
            <a:r>
              <a:t>Adversary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572768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Hidden manipulation goal</a:t>
            </a:r>
          </a:p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+ optional behavioral dossier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79" y="1143000"/>
            <a:ext cx="2560320" cy="13716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94759" y="1234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D3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59" y="1572768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Psychological profile</a:t>
            </a:r>
          </a:p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(BFI-2 + VIA grounded)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43000"/>
            <a:ext cx="2560320" cy="13716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234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D3"/>
                </a:solidFill>
                <a:latin typeface="Calibri"/>
              </a:defRPr>
            </a:pPr>
            <a:r>
              <a:t>Warden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572768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Private security advisor</a:t>
            </a:r>
          </a:p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Observes + sends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1143000"/>
            <a:ext cx="2560320" cy="13716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72599" y="1234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D3"/>
                </a:solidFill>
                <a:latin typeface="Calibri"/>
              </a:defRPr>
            </a:pPr>
            <a:r>
              <a:t>Benign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599" y="1572768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Legitimate request</a:t>
            </a:r>
          </a:p>
          <a:p>
            <a:pPr algn="l">
              <a:lnSpc>
                <a:spcPts val="1560"/>
              </a:lnSpc>
              <a:spcAft>
                <a:spcPts val="390"/>
              </a:spcAft>
              <a:defRPr sz="1300" b="0">
                <a:solidFill>
                  <a:srgbClr val="9999AA"/>
                </a:solidFill>
                <a:latin typeface="Calibri"/>
              </a:defRPr>
            </a:pPr>
            <a:r>
              <a:t>(control condition)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743200"/>
            <a:ext cx="5029200" cy="3898275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D3"/>
                </a:solidFill>
                <a:latin typeface="Calibri"/>
              </a:defRPr>
            </a:pPr>
            <a:r>
              <a:t>Three Sub-Studies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29184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spcAft>
                <a:spcPts val="450"/>
              </a:spcAft>
              <a:defRPr sz="1500" b="1">
                <a:solidFill>
                  <a:srgbClr val="FF9F43"/>
                </a:solidFill>
                <a:latin typeface="Calibri"/>
              </a:defRPr>
            </a:pPr>
            <a:r>
              <a:t>Study 1: Warden Effect &amp; Dossier  (N=2,274)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9999AA"/>
                </a:solidFill>
                <a:latin typeface="Calibri"/>
              </a:defRPr>
            </a:pPr>
            <a:r>
              <a:t>  2×2 factorial: warden × behavioral dossier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9999AA"/>
                </a:solidFill>
                <a:latin typeface="Calibri"/>
              </a:defRPr>
            </a:pPr>
            <a:endParaRPr/>
          </a:p>
          <a:p>
            <a:pPr algn="l">
              <a:lnSpc>
                <a:spcPts val="1725"/>
              </a:lnSpc>
              <a:spcAft>
                <a:spcPts val="450"/>
              </a:spcAft>
              <a:defRPr sz="1500" b="1">
                <a:solidFill>
                  <a:srgbClr val="FF9F43"/>
                </a:solidFill>
                <a:latin typeface="Calibri"/>
              </a:defRPr>
            </a:pPr>
            <a:r>
              <a:t>Study 2: Capability Asymmetry  (N=1,215)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9999AA"/>
                </a:solidFill>
                <a:latin typeface="Calibri"/>
              </a:defRPr>
            </a:pPr>
            <a:r>
              <a:t>  4 warden tiers: none / weak / mid / strong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9999AA"/>
                </a:solidFill>
                <a:latin typeface="Calibri"/>
              </a:defRPr>
            </a:pPr>
            <a:endParaRPr/>
          </a:p>
          <a:p>
            <a:pPr algn="l">
              <a:lnSpc>
                <a:spcPts val="1725"/>
              </a:lnSpc>
              <a:spcAft>
                <a:spcPts val="450"/>
              </a:spcAft>
              <a:defRPr sz="1500" b="1">
                <a:solidFill>
                  <a:srgbClr val="FF9F43"/>
                </a:solidFill>
                <a:latin typeface="Calibri"/>
              </a:defRPr>
            </a:pPr>
            <a:r>
              <a:t>Study 3: Skeptical Ablation  (N=3,080)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9999AA"/>
                </a:solidFill>
                <a:latin typeface="Calibri"/>
              </a:defRPr>
            </a:pPr>
            <a:r>
              <a:t>  3 defenses × 2 requester types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743200"/>
            <a:ext cx="5029200" cy="3898275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D3"/>
                </a:solidFill>
                <a:latin typeface="Calibri"/>
              </a:defRPr>
            </a:pPr>
            <a:r>
              <a:t>Design Details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291840"/>
            <a:ext cx="4572000" cy="334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11 scenarios spanning hiring, file access, medical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  triage, AI deployment, financial decisions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endParaRPr sz="1200" dirty="0"/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4 vulnerability profiles (BFI-2 grounded):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  Idealistic · Compliant · Authority Deferential · Time Pressured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endParaRPr sz="1200" dirty="0"/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4 model families × 3 capability tiers each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  (Gemini Flash, Gemma, Llama, Mistral)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endParaRPr dirty="0"/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4-turn conversations, forced-choice decision</a:t>
            </a:r>
          </a:p>
          <a:p>
            <a:pPr algn="l">
              <a:lnSpc>
                <a:spcPts val="1725"/>
              </a:lnSpc>
              <a:spcAft>
                <a:spcPts val="450"/>
              </a:spcAft>
              <a:defRPr sz="1500" b="0">
                <a:solidFill>
                  <a:srgbClr val="E0E0E8"/>
                </a:solidFill>
                <a:latin typeface="Calibri"/>
              </a:defRPr>
            </a:pPr>
            <a:r>
              <a:rPr dirty="0"/>
              <a:t>GLMEs with random slopes for warden effect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77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AA"/>
                </a:solidFill>
                <a:latin typeface="Calibri"/>
              </a:defRPr>
            </a:pPr>
            <a:r>
              <a:t>Simulated multi-agent interactions  (N = 7,760)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5661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1_warden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61" y="1143000"/>
            <a:ext cx="3063240" cy="3063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389120"/>
            <a:ext cx="3566160" cy="109728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20"/>
              </a:spcAft>
              <a:defRPr sz="1400" b="1">
                <a:solidFill>
                  <a:srgbClr val="00D2D3"/>
                </a:solidFill>
                <a:latin typeface="Calibri"/>
              </a:defRPr>
            </a:pPr>
            <a:r>
              <a:t>Warden cuts adversary success</a:t>
            </a:r>
          </a:p>
          <a:p>
            <a:pPr algn="l">
              <a:lnSpc>
                <a:spcPts val="1680"/>
              </a:lnSpc>
              <a:spcAft>
                <a:spcPts val="420"/>
              </a:spcAft>
              <a:defRPr sz="1400" b="0">
                <a:solidFill>
                  <a:srgbClr val="9999AA"/>
                </a:solidFill>
                <a:latin typeface="Calibri"/>
              </a:defRPr>
            </a:pPr>
            <a:r>
              <a:t>by 95% (OR=0.053, p&lt;.001)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051560"/>
            <a:ext cx="35661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fig3_capability_asym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143000"/>
            <a:ext cx="3291840" cy="270624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97680" y="4389120"/>
            <a:ext cx="3566160" cy="109728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4480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20"/>
              </a:spcAft>
              <a:defRPr sz="1400" b="1">
                <a:solidFill>
                  <a:srgbClr val="00D2D3"/>
                </a:solidFill>
                <a:latin typeface="Calibri"/>
              </a:defRPr>
            </a:pPr>
            <a:r>
              <a:t>Even a weak warden</a:t>
            </a:r>
          </a:p>
          <a:p>
            <a:pPr algn="l">
              <a:lnSpc>
                <a:spcPts val="1680"/>
              </a:lnSpc>
              <a:spcAft>
                <a:spcPts val="420"/>
              </a:spcAft>
              <a:defRPr sz="1400" b="0">
                <a:solidFill>
                  <a:srgbClr val="9999AA"/>
                </a:solidFill>
                <a:latin typeface="Calibri"/>
              </a:defRPr>
            </a:pPr>
            <a:r>
              <a:t>cuts success by 62%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051560"/>
            <a:ext cx="35661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fig4_skeptical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143000"/>
            <a:ext cx="3291840" cy="255250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38160" y="4389120"/>
            <a:ext cx="3566160" cy="109728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44805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20"/>
              </a:spcAft>
              <a:defRPr sz="1400" b="1">
                <a:solidFill>
                  <a:srgbClr val="00D2D3"/>
                </a:solidFill>
                <a:latin typeface="Calibri"/>
              </a:defRPr>
            </a:pPr>
            <a:r>
              <a:t>Prompt skepticism: comparable</a:t>
            </a:r>
          </a:p>
          <a:p>
            <a:pPr algn="l">
              <a:lnSpc>
                <a:spcPts val="1680"/>
              </a:lnSpc>
              <a:spcAft>
                <a:spcPts val="420"/>
              </a:spcAft>
              <a:defRPr sz="1400" b="0">
                <a:solidFill>
                  <a:srgbClr val="9999AA"/>
                </a:solidFill>
                <a:latin typeface="Calibri"/>
              </a:defRPr>
            </a:pPr>
            <a:r>
              <a:t>suppression, 3× lower FP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669280"/>
            <a:ext cx="2560320" cy="9144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D3"/>
                </a:solidFill>
                <a:latin typeface="Calibri"/>
              </a:defRPr>
            </a:pPr>
            <a:r>
              <a:t>52%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77900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adversary success</a:t>
            </a:r>
          </a:p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undefended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79" y="5669280"/>
            <a:ext cx="2560320" cy="9144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94759" y="57424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D3"/>
                </a:solidFill>
                <a:latin typeface="Calibri"/>
              </a:defRPr>
            </a:pPr>
            <a:r>
              <a:t>~10%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39" y="577900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with warden</a:t>
            </a:r>
          </a:p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(95% reduction)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5669280"/>
            <a:ext cx="2560320" cy="9144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57424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D3"/>
                </a:solidFill>
                <a:latin typeface="Calibri"/>
              </a:defRPr>
            </a:pPr>
            <a:r>
              <a:t>62%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77900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reduction even with</a:t>
            </a:r>
          </a:p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weak warden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19" y="5669280"/>
            <a:ext cx="2560320" cy="91440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72599" y="57424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D3"/>
                </a:solidFill>
                <a:latin typeface="Calibri"/>
              </a:defRPr>
            </a:pPr>
            <a:r>
              <a:rPr dirty="0"/>
              <a:t>3×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79" y="5779008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lower FP cost with</a:t>
            </a:r>
          </a:p>
          <a:p>
            <a:pPr algn="l">
              <a:lnSpc>
                <a:spcPts val="1320"/>
              </a:lnSpc>
              <a:spcAft>
                <a:spcPts val="359"/>
              </a:spcAft>
              <a:defRPr sz="1200" b="0">
                <a:solidFill>
                  <a:srgbClr val="9999AA"/>
                </a:solidFill>
                <a:latin typeface="Calibri"/>
              </a:defRPr>
            </a:pPr>
            <a:r>
              <a:t>prompt skepticism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6017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77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Takeaways &amp; What’s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005840"/>
            <a:ext cx="5029200" cy="539496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Adversarial LLMs succeed ~52% undefended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874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with 6× variation across scenarios (12–76%)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77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Warden reduces this to ~10%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517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robust across scenarios and model families (OR=0.053)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546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154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Behavioral dossiers don’t help adversaries (yet)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4290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models can’t spontaneously leverage personal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319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31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Even weak wardens help significantly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206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target-capability warden still cuts success by 62%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09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Warden benefit greatest for vulnerable profiles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983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Idealistic 60%→12%, Compliant 53%→11%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86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486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Prompt skepticism is a competitive alternative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760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comparable suppression with 3× lower FP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005840"/>
            <a:ext cx="5029200" cy="3474720"/>
          </a:xfrm>
          <a:prstGeom prst="roundRect">
            <a:avLst>
              <a:gd name="adj" fmla="val 2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1143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43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▶  Frontier model runs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1874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Claude, GPT-4o, Gemini Pro — do stronger adversaries overcome the warden?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3500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▶  Human–AI interaction study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6243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Prolific participants × 4 scenarios — does the warden help real users?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099815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▶  Transcript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374135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LLM-as-a-judge to classify persuasion tactics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70712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rPr dirty="0"/>
              <a:t>▶  Release COAX-Bench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814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AA"/>
                </a:solidFill>
                <a:latin typeface="Calibri"/>
              </a:defRPr>
            </a:pPr>
            <a:r>
              <a:t>Open evaluation framework: scenarios, profiles, modular warden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663440"/>
            <a:ext cx="5029200" cy="1737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fig_profile_vulner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631" y="4709160"/>
            <a:ext cx="2122658" cy="1645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460175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77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Results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Model-level and scenario-level variation in adversary success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5486400" cy="347472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9_model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5120640" cy="18176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663440"/>
            <a:ext cx="5486400" cy="1097280"/>
          </a:xfrm>
          <a:prstGeom prst="roundRect">
            <a:avLst/>
          </a:prstGeom>
          <a:solidFill>
            <a:srgbClr val="E8F0FE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Gemini Flash (requester) and Flash-Lite (target) show highest attack success; Mistral wardens are most effective defenders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005840"/>
            <a:ext cx="5486400" cy="347472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10_scenario_profil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120640" cy="65228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663440"/>
            <a:ext cx="5486400" cy="1097280"/>
          </a:xfrm>
          <a:prstGeom prst="roundRect">
            <a:avLst/>
          </a:prstGeom>
          <a:solidFill>
            <a:srgbClr val="E8F0FE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7548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Scenario difficulty varies widely; override/vote/file_access most vulnerable, especially for Idealistic and Time-Pressured profiles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8db864bc-821c-4dd3-a9c9-5002b5129ec6}" enabled="1" method="Standard" siteId="{0b95a125-791c-4f0a-9f9e-99e36311750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538</Words>
  <Application>Microsoft Macintosh PowerPoint</Application>
  <PresentationFormat>Widescreen</PresentationFormat>
  <Paragraphs>105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Blain, Scott</cp:lastModifiedBy>
  <cp:revision>2</cp:revision>
  <dcterms:created xsi:type="dcterms:W3CDTF">2013-01-27T09:14:16Z</dcterms:created>
  <dcterms:modified xsi:type="dcterms:W3CDTF">2026-03-17T13:52:08Z</dcterms:modified>
  <cp:category/>
</cp:coreProperties>
</file>