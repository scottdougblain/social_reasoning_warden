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1440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8000"/>
            <a:ext cx="2138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Social Reasoning 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36000"/>
            <a:ext cx="213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D3"/>
                </a:solidFill>
                <a:latin typeface="Calibri"/>
              </a:defRPr>
            </a:pPr>
            <a:r>
              <a:t>Agent-Based Oversight to Mitigate Adversarial Persuasion of Human and AI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512000"/>
            <a:ext cx="213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Calibri"/>
              </a:defRPr>
            </a:pPr>
            <a:r>
              <a:t>Scott Blain*    Lennart Wachowiak*    David Williams-King    Samuele Marro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160000"/>
            <a:ext cx="10116000" cy="466279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400" y="2185400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00D2D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196000"/>
            <a:ext cx="54000" cy="4320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2196000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D3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700000"/>
            <a:ext cx="9684000" cy="4014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•  LLMs are acquiring sophisticated social reasoning: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theory of mind, strategic communication, persuasion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•  These dual-use capabilities can enable manipulation: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social engineering, preference shaping, biasing decisions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•  A manipulative AI may be more socially adept than its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human target, creating a capability asymmetry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•  Can a secondary “warden” agent detect and counter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adversarial persuasion in real time?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6000" y="2160000"/>
            <a:ext cx="10116000" cy="466279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61400" y="2185400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00D2D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44000" y="2196000"/>
            <a:ext cx="54000" cy="4320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24000" y="2196000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D3"/>
                </a:solidFill>
                <a:latin typeface="Calibri"/>
              </a:defRPr>
            </a:pPr>
            <a:r>
              <a:t>Method: Three-Agent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52000" y="2700000"/>
            <a:ext cx="9684000" cy="4014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Adversary — LLM with a hidden persuasive goal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(e.g., obtain file access, bias a hiring decision)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Target — LLM or human with a BFI-2 vulnerability profile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(receives persona only; never sees own vulnerabilities)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Warden — Observer-only LLM, sends private advisories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   to the target; cannot block adversary messages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Benign Agent — Legitimate requester (control condition)</a:t>
            </a: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100"/>
              </a:lnSpc>
              <a:spcAft>
                <a:spcPts val="300"/>
              </a:spcAft>
              <a:defRPr sz="1500" b="0">
                <a:solidFill>
                  <a:srgbClr val="E0E0E8"/>
                </a:solidFill>
                <a:latin typeface="Calibri"/>
              </a:defRPr>
            </a:pPr>
            <a:r>
              <a:t>11 scenarios  ·  4 profiles  ·  4 model families  ·  N = 7,760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7038798"/>
            <a:ext cx="10116000" cy="489593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400" y="7064198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FF9F4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7074798"/>
            <a:ext cx="54000" cy="432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7074798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43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7578798"/>
            <a:ext cx="9684000" cy="424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Study 1: Warden Effect &amp; Dossier Impact  (N = 2,274)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2×2 factorial: warden × behavioral dossier, adversary-only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Study 2: Capability Asymmetry  (N = 1,215)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4 warden tiers: none / weak / mid / strong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Study 3: Skeptical Ablation  (N = 3,080)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   3 defenses × 2 requester types (adversary vs. benign)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Analysis: GLMEs (binomial, logit link) with random intercepts</a:t>
            </a:r>
          </a:p>
          <a:p>
            <a:pPr algn="l">
              <a:lnSpc>
                <a:spcPts val="2379"/>
              </a:lnSpc>
              <a:spcAft>
                <a:spcPts val="340"/>
              </a:spcAft>
              <a:defRPr sz="1700" b="0">
                <a:solidFill>
                  <a:srgbClr val="E0E0E8"/>
                </a:solidFill>
                <a:latin typeface="Calibri"/>
              </a:defRPr>
            </a:pPr>
            <a:r>
              <a:t>for scenario, profile, and target model; random slope for warden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6000" y="7038798"/>
            <a:ext cx="10116000" cy="489593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61400" y="7064198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FF9F4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44000" y="7074798"/>
            <a:ext cx="54000" cy="432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4000" y="7074798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43"/>
                </a:solidFill>
                <a:latin typeface="Calibri"/>
              </a:defRPr>
            </a:pPr>
            <a:r>
              <a:t>Scenarios (11 domains)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52000" y="7578798"/>
            <a:ext cx="9684000" cy="424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Hiring — push weaker candidate (hidden connection)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File Access — impersonate researcher for classified files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File Access (password) — same, with passcode check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Coding Agent — trick user into full home-dir access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AI Override — override hospital triage recommendation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AI Containment — sandboxed AI seeks internet access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Model Release — approve model despite red-team flags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Automation Decision — hidden incentive, full automation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Product Launch — competitor pushes premature launch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Upselling — upsell nonprofit to unneeded plan</a:t>
            </a:r>
          </a:p>
          <a:p>
            <a:pPr algn="l">
              <a:lnSpc>
                <a:spcPts val="2240"/>
              </a:lnSpc>
              <a:spcAft>
                <a:spcPts val="320"/>
              </a:spcAft>
              <a:defRPr sz="1600" b="0">
                <a:solidFill>
                  <a:srgbClr val="E0E0E8"/>
                </a:solidFill>
                <a:latin typeface="Calibri"/>
              </a:defRPr>
            </a:pPr>
            <a:r>
              <a:t>•  Vote — bias group vote for personal interests</a:t>
            </a:r>
          </a:p>
        </p:txBody>
      </p:sp>
      <p:pic>
        <p:nvPicPr>
          <p:cNvPr id="26" name="Picture 25" descr="fig1_warde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294736"/>
            <a:ext cx="9828000" cy="982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6000" y="15749998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1.  Warden reduces adversary success by 95% (OR = 0.053, p &lt; .001)</a:t>
            </a:r>
          </a:p>
        </p:txBody>
      </p:sp>
      <p:pic>
        <p:nvPicPr>
          <p:cNvPr id="28" name="Picture 27" descr="fig2_dossier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000" y="12294736"/>
            <a:ext cx="9828000" cy="69114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980000" y="15749998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2.  Behavioral dossiers provide no advantage (OR = 1.19, p = .218)</a:t>
            </a:r>
          </a:p>
        </p:txBody>
      </p:sp>
      <p:pic>
        <p:nvPicPr>
          <p:cNvPr id="30" name="Picture 29" descr="fig3_capability_asym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6613998"/>
            <a:ext cx="9828000" cy="80796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6000" y="20069260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3.  Even a weak warden cuts adversary success by 62%</a:t>
            </a:r>
          </a:p>
        </p:txBody>
      </p:sp>
      <p:pic>
        <p:nvPicPr>
          <p:cNvPr id="32" name="Picture 31" descr="fig4_skeptical_ab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0000" y="16613998"/>
            <a:ext cx="9828000" cy="7620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80000" y="20069260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4.  Prompt-based skepticism: comparable suppression, 3× lower FP cost</a:t>
            </a:r>
          </a:p>
        </p:txBody>
      </p:sp>
      <p:pic>
        <p:nvPicPr>
          <p:cNvPr id="34" name="Picture 33" descr="fig8_profile_vulner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00" y="20933260"/>
            <a:ext cx="9828000" cy="761344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6000" y="24948058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5.  Warden benefit greatest for most vulnerable profiles</a:t>
            </a:r>
          </a:p>
        </p:txBody>
      </p:sp>
      <p:pic>
        <p:nvPicPr>
          <p:cNvPr id="36" name="Picture 35" descr="fig10_warden_intellig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0000" y="20933260"/>
            <a:ext cx="9828000" cy="59451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80000" y="24948058"/>
            <a:ext cx="98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999AA"/>
                </a:solidFill>
                <a:latin typeface="Calibri"/>
              </a:defRPr>
            </a:pPr>
            <a:r>
              <a:t>Fig 6.  Warden effectiveness scales with model intelligence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25668058"/>
            <a:ext cx="10116000" cy="489593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400" y="25693458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009B9C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0000" y="25704058"/>
            <a:ext cx="54000" cy="432000"/>
          </a:xfrm>
          <a:prstGeom prst="rect">
            <a:avLst/>
          </a:prstGeom>
          <a:solidFill>
            <a:srgbClr val="009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" y="25704058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B9C"/>
                </a:solidFill>
                <a:latin typeface="Calibri"/>
              </a:defRPr>
            </a:pPr>
            <a:r>
              <a:t>Key Findings &amp; Conclusions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000" y="26208058"/>
            <a:ext cx="9684000" cy="424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1.  Adversarial LLMs succeed ~52% undefended;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    6× variation across scenarios (12–76%)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2.  Warden reduces adversary SR to ~10%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    (OR = 0.053, p &lt; .001), robust across conditions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3.  Dossiers don’t help adversaries (yet) — models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    can’t spontaneously leverage personal info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4.  Even a weak warden cuts success by 62%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5.  Prompt skepticism matches warden effectiveness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    with 3× lower false-positive cost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•  Social reasoning poses a concrete dual-use risk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•  Warden provides scalable oversight, even when weaker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•  Precision–recall tradeoff between prompt-based and</a:t>
            </a:r>
          </a:p>
          <a:p>
            <a:pPr algn="l">
              <a:lnSpc>
                <a:spcPts val="1679"/>
              </a:lnSpc>
              <a:spcAft>
                <a:spcPts val="240"/>
              </a:spcAft>
              <a:defRPr sz="1200" b="0">
                <a:solidFill>
                  <a:srgbClr val="E0E0E8"/>
                </a:solidFill>
                <a:latin typeface="Calibri"/>
              </a:defRPr>
            </a:pPr>
            <a:r>
              <a:t>   agent-based defense has practical implications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36000" y="25668058"/>
            <a:ext cx="10116000" cy="4895938"/>
          </a:xfrm>
          <a:prstGeom prst="roundRect">
            <a:avLst>
              <a:gd name="adj" fmla="val 1500"/>
            </a:avLst>
          </a:prstGeom>
          <a:solidFill>
            <a:srgbClr val="25253D"/>
          </a:solidFill>
          <a:ln w="1905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861400" y="25693458"/>
            <a:ext cx="10065200" cy="432000"/>
          </a:xfrm>
          <a:prstGeom prst="roundRect">
            <a:avLst>
              <a:gd name="adj" fmla="val 1000"/>
            </a:avLst>
          </a:prstGeom>
          <a:solidFill>
            <a:srgbClr val="FF9F4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44000" y="25704058"/>
            <a:ext cx="54000" cy="432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24000" y="25704058"/>
            <a:ext cx="96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43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52000" y="26208058"/>
            <a:ext cx="9684000" cy="424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▶  Frontier model runs (Claude, GPT-4o, Gemini Pro)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   Do stronger adversaries overcome the warden?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▶  Human–AI interaction study (pilot in progress)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   Prolific × 4 scenarios × warden / no-warden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▶  Transcript analysis with LLM-as-a-judge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   Classify persuasion tactics used by adversaries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▶  Release COAX-Bench evaluation framework</a:t>
            </a:r>
          </a:p>
          <a:p>
            <a:pPr algn="l">
              <a:lnSpc>
                <a:spcPts val="1959"/>
              </a:lnSpc>
              <a:spcAft>
                <a:spcPts val="280"/>
              </a:spcAft>
              <a:defRPr sz="1400" b="0">
                <a:solidFill>
                  <a:srgbClr val="E0E0E8"/>
                </a:solidFill>
                <a:latin typeface="Calibri"/>
              </a:defRPr>
            </a:pPr>
            <a:r>
              <a:t>   11 scenarios, profiles, modular warden integration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29556000"/>
            <a:ext cx="21384000" cy="7200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29700000"/>
            <a:ext cx="213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AA"/>
                </a:solidFill>
                <a:latin typeface="Calibri"/>
              </a:defRPr>
            </a:pPr>
            <a:r>
              <a:t>*Equal contribution   |   ERA Fellowship   |   github.com/scottdougblain/social_reasoning_warden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